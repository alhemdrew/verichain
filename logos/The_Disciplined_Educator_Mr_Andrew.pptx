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274320"/>
            <a:ext cx="1828800" cy="1828800"/>
          </a:xfrm>
          <a:prstGeom prst="ellipse">
            <a:avLst/>
          </a:prstGeom>
          <a:solidFill>
            <a:srgbClr val="70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371600" cy="1371600"/>
          </a:xfrm>
          <a:prstGeom prst="ellipse">
            <a:avLst/>
          </a:prstGeom>
          <a:solidFill>
            <a:srgbClr val="B1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806440"/>
            <a:ext cx="1097280" cy="1097280"/>
          </a:xfrm>
          <a:prstGeom prst="ellipse">
            <a:avLst/>
          </a:prstGeom>
          <a:solidFill>
            <a:srgbClr val="9A5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1376C"/>
                </a:solidFill>
                <a:latin typeface="Aptos Display"/>
              </a:rPr>
              <a:t>TEACHERS • STAFF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500" b="1">
                <a:solidFill>
                  <a:srgbClr val="F7F4FA"/>
                </a:solidFill>
                <a:latin typeface="Aptos Display"/>
              </a:rPr>
              <a:t>THE
DISCIPLINED
EDUCATOR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720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9AFC3"/>
                </a:solidFill>
                <a:latin typeface="Aptos Display"/>
              </a:rPr>
              <a:t>PROFESSIONAL ETHICS  •  TIME MANAGEMENT  •  CONSISTENCY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5486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9A56E1"/>
                </a:solidFill>
                <a:latin typeface="Aptos Display"/>
              </a:rPr>
              <a:t>MR. ANDREW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274320"/>
            <a:ext cx="1828800" cy="1828800"/>
          </a:xfrm>
          <a:prstGeom prst="ellipse">
            <a:avLst/>
          </a:prstGeom>
          <a:solidFill>
            <a:srgbClr val="70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371600" cy="1371600"/>
          </a:xfrm>
          <a:prstGeom prst="ellipse">
            <a:avLst/>
          </a:prstGeom>
          <a:solidFill>
            <a:srgbClr val="B1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806440"/>
            <a:ext cx="1097280" cy="1097280"/>
          </a:xfrm>
          <a:prstGeom prst="ellipse">
            <a:avLst/>
          </a:prstGeom>
          <a:solidFill>
            <a:srgbClr val="9A5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1376C"/>
                </a:solidFill>
                <a:latin typeface="Aptos Display"/>
              </a:rPr>
              <a:t>01 •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4FA"/>
                </a:solidFill>
                <a:latin typeface="Aptos Display"/>
              </a:rPr>
              <a:t>DISCIPLINE STARTS WITH 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246120" cy="205740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B1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880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7F4FA"/>
                </a:solidFill>
                <a:latin typeface="Aptos Display"/>
              </a:rPr>
              <a:t>WHAT DO WE
EXPECT FROM
LEARNERS?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2148840"/>
            <a:ext cx="3246120" cy="205740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703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286000"/>
            <a:ext cx="2880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7F4FA"/>
                </a:solidFill>
                <a:latin typeface="Aptos Display"/>
              </a:rPr>
              <a:t>NOW ASK:
DO WE
MODEL IT?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2148840"/>
            <a:ext cx="3246120" cy="205740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9A5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2286000"/>
            <a:ext cx="2880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7F4FA"/>
                </a:solidFill>
                <a:latin typeface="Aptos Display"/>
              </a:rPr>
              <a:t>THINK → PAIR
→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834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BE53"/>
                </a:solidFill>
                <a:latin typeface="Aptos Display"/>
              </a:rPr>
              <a:t>30 SECONDS • NO PERFECT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274320"/>
            <a:ext cx="1828800" cy="1828800"/>
          </a:xfrm>
          <a:prstGeom prst="ellipse">
            <a:avLst/>
          </a:prstGeom>
          <a:solidFill>
            <a:srgbClr val="70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371600" cy="1371600"/>
          </a:xfrm>
          <a:prstGeom prst="ellipse">
            <a:avLst/>
          </a:prstGeom>
          <a:solidFill>
            <a:srgbClr val="B1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806440"/>
            <a:ext cx="1097280" cy="1097280"/>
          </a:xfrm>
          <a:prstGeom prst="ellipse">
            <a:avLst/>
          </a:prstGeom>
          <a:solidFill>
            <a:srgbClr val="9A5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1376C"/>
                </a:solidFill>
                <a:latin typeface="Aptos Display"/>
              </a:rPr>
              <a:t>02 • MIRROR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4FA"/>
                </a:solidFill>
                <a:latin typeface="Aptos Display"/>
              </a:rPr>
              <a:t>IF LEARNERS COPIED US…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5166360" cy="1481328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703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4800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4FA"/>
                </a:solidFill>
                <a:latin typeface="Aptos Display"/>
              </a:rPr>
              <a:t>PUNCTUALITY
Would they be on time?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166360" cy="1481328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B1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800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4FA"/>
                </a:solidFill>
                <a:latin typeface="Aptos Display"/>
              </a:rPr>
              <a:t>PREPARATION
Would they come ready?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94760"/>
            <a:ext cx="5166360" cy="1481328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9A5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4800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4FA"/>
                </a:solidFill>
                <a:latin typeface="Aptos Display"/>
              </a:rPr>
              <a:t>ATTITUDE
Would they handle correction well?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794760"/>
            <a:ext cx="5166360" cy="1481328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52B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31920"/>
            <a:ext cx="4800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4FA"/>
                </a:solidFill>
                <a:latin typeface="Aptos Display"/>
              </a:rPr>
              <a:t>RESPONSIBILITY
Would they keep commitments?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4FA"/>
                </a:solidFill>
                <a:latin typeface="Aptos Display"/>
              </a:rPr>
              <a:t>WOULD YOU BE COMFORTABLE WITH YOUR LEARNERS BECOMING EXACTLY LIKE YOU PROFESSIONALLY?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274320"/>
            <a:ext cx="1828800" cy="1828800"/>
          </a:xfrm>
          <a:prstGeom prst="ellipse">
            <a:avLst/>
          </a:prstGeom>
          <a:solidFill>
            <a:srgbClr val="70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371600" cy="1371600"/>
          </a:xfrm>
          <a:prstGeom prst="ellipse">
            <a:avLst/>
          </a:prstGeom>
          <a:solidFill>
            <a:srgbClr val="B1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806440"/>
            <a:ext cx="1097280" cy="1097280"/>
          </a:xfrm>
          <a:prstGeom prst="ellipse">
            <a:avLst/>
          </a:prstGeom>
          <a:solidFill>
            <a:srgbClr val="9A5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1376C"/>
                </a:solidFill>
                <a:latin typeface="Aptos Display"/>
              </a:rPr>
              <a:t>03 • ETHICS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4FA"/>
                </a:solidFill>
                <a:latin typeface="Aptos Display"/>
              </a:rPr>
              <a:t>WHEN NOBODY IS WATCHING…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1376C"/>
                </a:solidFill>
                <a:latin typeface="Aptos Display"/>
              </a:rPr>
              <a:t>PROFESSIONAL ETHICS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7F4FA"/>
                </a:solidFill>
                <a:latin typeface="Aptos Display"/>
              </a:rPr>
              <a:t>RESPONSIBILITY
OVER
CONVENIENCE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4663440" cy="333756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703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297679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7F4FA"/>
                </a:solidFill>
                <a:latin typeface="Aptos Display"/>
              </a:rPr>
              <a:t>SCENARIO
Teacher arrives 15 minutes late.
“Traffic.”
INCIDENT — OR HABIT?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53949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BE53"/>
                </a:solidFill>
                <a:latin typeface="Aptos Display"/>
              </a:rPr>
              <a:t>DISCUSS: WHAT IS THE DEEPER ISSUE?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274320"/>
            <a:ext cx="1828800" cy="1828800"/>
          </a:xfrm>
          <a:prstGeom prst="ellipse">
            <a:avLst/>
          </a:prstGeom>
          <a:solidFill>
            <a:srgbClr val="70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371600" cy="1371600"/>
          </a:xfrm>
          <a:prstGeom prst="ellipse">
            <a:avLst/>
          </a:prstGeom>
          <a:solidFill>
            <a:srgbClr val="B1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806440"/>
            <a:ext cx="1097280" cy="1097280"/>
          </a:xfrm>
          <a:prstGeom prst="ellipse">
            <a:avLst/>
          </a:prstGeom>
          <a:solidFill>
            <a:srgbClr val="9A5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1376C"/>
                </a:solidFill>
                <a:latin typeface="Aptos Display"/>
              </a:rPr>
              <a:t>04 • QUICK FIRE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4FA"/>
                </a:solidFill>
                <a:latin typeface="Aptos Display"/>
              </a:rPr>
              <a:t>PROFESSIONAL?  UNPROFESSIONAL?  DEPENDS?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3429000" cy="141732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B1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4FA"/>
                </a:solidFill>
                <a:latin typeface="Aptos Display"/>
              </a:rPr>
              <a:t>Phone during a lesson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429000" cy="141732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703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65960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4FA"/>
                </a:solidFill>
                <a:latin typeface="Aptos Display"/>
              </a:rPr>
              <a:t>Correcting a colleague publicly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429000" cy="141732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9A5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965960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4FA"/>
                </a:solidFill>
                <a:latin typeface="Aptos Display"/>
              </a:rPr>
              <a:t>Admitting “I don’t know”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57600"/>
            <a:ext cx="3429000" cy="141732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52B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4FA"/>
                </a:solidFill>
                <a:latin typeface="Aptos Display"/>
              </a:rPr>
              <a:t>Complaining about management to learners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657600"/>
            <a:ext cx="3429000" cy="141732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E8B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794760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4FA"/>
                </a:solidFill>
                <a:latin typeface="Aptos Display"/>
              </a:rPr>
              <a:t>Asking another teacher for help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3657600"/>
            <a:ext cx="3429000" cy="141732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703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3794760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4FA"/>
                </a:solidFill>
                <a:latin typeface="Aptos Display"/>
              </a:rPr>
              <a:t>Keeping a promise when nobody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7F4FA"/>
                </a:solidFill>
                <a:latin typeface="Aptos Display"/>
              </a:rPr>
              <a:t>VOTE → THEN EXPLAIN WHY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274320"/>
            <a:ext cx="1828800" cy="1828800"/>
          </a:xfrm>
          <a:prstGeom prst="ellipse">
            <a:avLst/>
          </a:prstGeom>
          <a:solidFill>
            <a:srgbClr val="70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371600" cy="1371600"/>
          </a:xfrm>
          <a:prstGeom prst="ellipse">
            <a:avLst/>
          </a:prstGeom>
          <a:solidFill>
            <a:srgbClr val="B1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806440"/>
            <a:ext cx="1097280" cy="1097280"/>
          </a:xfrm>
          <a:prstGeom prst="ellipse">
            <a:avLst/>
          </a:prstGeom>
          <a:solidFill>
            <a:srgbClr val="9A5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1376C"/>
                </a:solidFill>
                <a:latin typeface="Aptos Display"/>
              </a:rPr>
              <a:t>05 •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4FA"/>
                </a:solidFill>
                <a:latin typeface="Aptos Display"/>
              </a:rPr>
              <a:t>TIME PROBLEM… OR PRIORITY PROBLEM?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291840" cy="219456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703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7F4FA"/>
                </a:solidFill>
                <a:latin typeface="Aptos Display"/>
              </a:rPr>
              <a:t>MOST OF MY TIME
GOES TO…
____________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40280"/>
            <a:ext cx="3291840" cy="219456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B1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37744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7F4FA"/>
                </a:solidFill>
                <a:latin typeface="Aptos Display"/>
              </a:rPr>
              <a:t>MORE TIME SHOULD
GO TO…
____________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240280"/>
            <a:ext cx="3291840" cy="219456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9A5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37744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7F4FA"/>
                </a:solidFill>
                <a:latin typeface="Aptos Display"/>
              </a:rPr>
              <a:t>I KEEP POSTPONING…
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57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BE53"/>
                </a:solidFill>
                <a:latin typeface="Aptos Display"/>
              </a:rPr>
              <a:t>2 MINUTES • PRIVATE TIME AUDIT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274320"/>
            <a:ext cx="1828800" cy="1828800"/>
          </a:xfrm>
          <a:prstGeom prst="ellipse">
            <a:avLst/>
          </a:prstGeom>
          <a:solidFill>
            <a:srgbClr val="70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371600" cy="1371600"/>
          </a:xfrm>
          <a:prstGeom prst="ellipse">
            <a:avLst/>
          </a:prstGeom>
          <a:solidFill>
            <a:srgbClr val="B1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806440"/>
            <a:ext cx="1097280" cy="1097280"/>
          </a:xfrm>
          <a:prstGeom prst="ellipse">
            <a:avLst/>
          </a:prstGeom>
          <a:solidFill>
            <a:srgbClr val="9A5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1376C"/>
                </a:solidFill>
                <a:latin typeface="Aptos Display"/>
              </a:rPr>
              <a:t>06 • FIVE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4FA"/>
                </a:solidFill>
                <a:latin typeface="Aptos Display"/>
              </a:rPr>
              <a:t>SMALL HABITS.  BIG SIGNALS.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87168" cy="1874519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703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121408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4FA"/>
                </a:solidFill>
                <a:latin typeface="Aptos Display"/>
              </a:rPr>
              <a:t>5 MIN EARLY
→ Preparation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2148840"/>
            <a:ext cx="2487168" cy="1874519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B1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2286000"/>
            <a:ext cx="2121408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4FA"/>
                </a:solidFill>
                <a:latin typeface="Aptos Display"/>
              </a:rPr>
              <a:t>5 MIN AFTER
→ Reflection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2148840"/>
            <a:ext cx="2487168" cy="1874519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9A5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2121408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4FA"/>
                </a:solidFill>
                <a:latin typeface="Aptos Display"/>
              </a:rPr>
              <a:t>5 MIN LISTENING
→ Relationship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0576" y="2148840"/>
            <a:ext cx="2487168" cy="1874519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52B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63456" y="2286000"/>
            <a:ext cx="2121408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4FA"/>
                </a:solidFill>
                <a:latin typeface="Aptos Display"/>
              </a:rPr>
              <a:t>5 MIN PLANNING
→ Less chaos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7F4FA"/>
                </a:solidFill>
                <a:latin typeface="Aptos Display"/>
              </a:rPr>
              <a:t>DISCIPLINE = SMALL DECISIONS × CONSISTENCY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274320"/>
            <a:ext cx="1828800" cy="1828800"/>
          </a:xfrm>
          <a:prstGeom prst="ellipse">
            <a:avLst/>
          </a:prstGeom>
          <a:solidFill>
            <a:srgbClr val="70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371600" cy="1371600"/>
          </a:xfrm>
          <a:prstGeom prst="ellipse">
            <a:avLst/>
          </a:prstGeom>
          <a:solidFill>
            <a:srgbClr val="B1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806440"/>
            <a:ext cx="1097280" cy="1097280"/>
          </a:xfrm>
          <a:prstGeom prst="ellipse">
            <a:avLst/>
          </a:prstGeom>
          <a:solidFill>
            <a:srgbClr val="9A5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1376C"/>
                </a:solidFill>
                <a:latin typeface="Aptos Display"/>
              </a:rPr>
              <a:t>07 • 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4FA"/>
                </a:solidFill>
                <a:latin typeface="Aptos Display"/>
              </a:rPr>
              <a:t>CAN LEARNERS PREDICT YOU?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1376C"/>
                </a:solidFill>
                <a:latin typeface="Aptos Display"/>
              </a:rPr>
              <a:t>EXPECTATIONS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39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03AB4"/>
                </a:solidFill>
                <a:latin typeface="Aptos Display"/>
              </a:rPr>
              <a:t>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A56E1"/>
                </a:solidFill>
                <a:latin typeface="Aptos Display"/>
              </a:rPr>
              <a:t>CONSEQUENCES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B87E"/>
                </a:solidFill>
                <a:latin typeface="Aptos Display"/>
              </a:rPr>
              <a:t>COMMUNICATION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43200"/>
            <a:ext cx="4480560" cy="164592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B1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8036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7F4FA"/>
                </a:solidFill>
                <a:latin typeface="Aptos Display"/>
              </a:rPr>
              <a:t>TODAY
“NOT ALLOWED.”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2743200"/>
            <a:ext cx="4480560" cy="164592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703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88036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7F4FA"/>
                </a:solidFill>
                <a:latin typeface="Aptos Display"/>
              </a:rPr>
              <a:t>TOMORROW
“IT’S OKAY.”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8BE53"/>
                </a:solidFill>
                <a:latin typeface="Aptos Display"/>
              </a:rPr>
              <a:t>WHAT DOES INCONSISTENCY TEACH?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274320"/>
            <a:ext cx="1828800" cy="1828800"/>
          </a:xfrm>
          <a:prstGeom prst="ellipse">
            <a:avLst/>
          </a:prstGeom>
          <a:solidFill>
            <a:srgbClr val="70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371600" cy="1371600"/>
          </a:xfrm>
          <a:prstGeom prst="ellipse">
            <a:avLst/>
          </a:prstGeom>
          <a:solidFill>
            <a:srgbClr val="B1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806440"/>
            <a:ext cx="1097280" cy="1097280"/>
          </a:xfrm>
          <a:prstGeom prst="ellipse">
            <a:avLst/>
          </a:prstGeom>
          <a:solidFill>
            <a:srgbClr val="9A5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1376C"/>
                </a:solidFill>
                <a:latin typeface="Aptos Display"/>
              </a:rPr>
              <a:t>08 •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4FA"/>
                </a:solidFill>
                <a:latin typeface="Aptos Display"/>
              </a:rPr>
              <a:t>FIRM ≠ HARSH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4937760" cy="205740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B1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40279"/>
            <a:ext cx="4572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7F4FA"/>
                </a:solidFill>
                <a:latin typeface="Aptos Display"/>
              </a:rPr>
              <a:t>“HOW MANY TIMES
DO I HAVE TO TELL YOU?”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103120"/>
            <a:ext cx="4937760" cy="205740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52B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40279"/>
            <a:ext cx="4572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7F4FA"/>
                </a:solidFill>
                <a:latin typeface="Aptos Display"/>
              </a:rPr>
              <a:t>“HELP ME UNDERSTAND
WHAT IS MAKING THIS DIFFICULT.”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7F4FA"/>
                </a:solidFill>
                <a:latin typeface="Aptos Display"/>
              </a:rPr>
              <a:t>WHICH CORRECTS THE BEHAVIOUR WITHOUT DESTROYING THE RELATIONSHIP?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274320"/>
            <a:ext cx="1828800" cy="1828800"/>
          </a:xfrm>
          <a:prstGeom prst="ellipse">
            <a:avLst/>
          </a:prstGeom>
          <a:solidFill>
            <a:srgbClr val="70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371600" cy="1371600"/>
          </a:xfrm>
          <a:prstGeom prst="ellipse">
            <a:avLst/>
          </a:prstGeom>
          <a:solidFill>
            <a:srgbClr val="B1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806440"/>
            <a:ext cx="1097280" cy="1097280"/>
          </a:xfrm>
          <a:prstGeom prst="ellipse">
            <a:avLst/>
          </a:prstGeom>
          <a:solidFill>
            <a:srgbClr val="9A5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1376C"/>
                </a:solidFill>
                <a:latin typeface="Aptos Display"/>
              </a:rPr>
              <a:t>09 • LISTENING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4FA"/>
                </a:solidFill>
                <a:latin typeface="Aptos Display"/>
              </a:rPr>
              <a:t>LISTEN.  DON’T FIX.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1376C"/>
                </a:solidFill>
                <a:latin typeface="Aptos Display"/>
              </a:rPr>
              <a:t>PAIR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7F4FA"/>
                </a:solidFill>
                <a:latin typeface="Aptos Display"/>
              </a:rPr>
              <a:t>PERSON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9AFC3"/>
                </a:solidFill>
                <a:latin typeface="Aptos Display"/>
              </a:rPr>
              <a:t>60 SECONDS
“What makes teaching difficult for you?”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23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7F4FA"/>
                </a:solidFill>
                <a:latin typeface="Aptos Display"/>
              </a:rPr>
              <a:t>PERSON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260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E8BE53"/>
                </a:solidFill>
                <a:latin typeface="Aptos Display"/>
              </a:rPr>
              <a:t>NO INTERRUPTING
NO ADVICE
NO STORY ABOUT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7F4FA"/>
                </a:solidFill>
                <a:latin typeface="Aptos Display"/>
              </a:rPr>
              <a:t>SWAP → HOW HARD WAS IT JUST TO LISTEN?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274320"/>
            <a:ext cx="1828800" cy="1828800"/>
          </a:xfrm>
          <a:prstGeom prst="ellipse">
            <a:avLst/>
          </a:prstGeom>
          <a:solidFill>
            <a:srgbClr val="70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371600" cy="1371600"/>
          </a:xfrm>
          <a:prstGeom prst="ellipse">
            <a:avLst/>
          </a:prstGeom>
          <a:solidFill>
            <a:srgbClr val="B1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806440"/>
            <a:ext cx="1097280" cy="1097280"/>
          </a:xfrm>
          <a:prstGeom prst="ellipse">
            <a:avLst/>
          </a:prstGeom>
          <a:solidFill>
            <a:srgbClr val="9A5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1376C"/>
                </a:solidFill>
                <a:latin typeface="Aptos Display"/>
              </a:rPr>
              <a:t>10 • REFLECT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4FA"/>
                </a:solidFill>
                <a:latin typeface="Aptos Display"/>
              </a:rPr>
              <a:t>THINK OF A TEACHER YOU STILL REMEMBER.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1376C"/>
                </a:solidFill>
                <a:latin typeface="Aptos Display"/>
              </a:rPr>
              <a:t>WHAT DO YOU REMEMBER?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5120640" cy="118872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703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4754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7F4FA"/>
                </a:solidFill>
                <a:latin typeface="Aptos Display"/>
              </a:rPr>
              <a:t>How they treated you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14600"/>
            <a:ext cx="5120640" cy="118872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B1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754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7F4FA"/>
                </a:solidFill>
                <a:latin typeface="Aptos Display"/>
              </a:rPr>
              <a:t>What they made you believe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23360"/>
            <a:ext cx="5120640" cy="118872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9A5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4754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7F4FA"/>
                </a:solidFill>
                <a:latin typeface="Aptos Display"/>
              </a:rPr>
              <a:t>How they handled mistakes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023360"/>
            <a:ext cx="5120640" cy="118872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52B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160520"/>
            <a:ext cx="4754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7F4FA"/>
                </a:solidFill>
                <a:latin typeface="Aptos Display"/>
              </a:rPr>
              <a:t>How they made you feel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7F4FA"/>
                </a:solidFill>
                <a:latin typeface="Aptos Display"/>
              </a:rPr>
              <a:t>NOW: WHAT WILL OUR LEARNERS REMEMBER ABOUT US?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274320"/>
            <a:ext cx="1828800" cy="1828800"/>
          </a:xfrm>
          <a:prstGeom prst="ellipse">
            <a:avLst/>
          </a:prstGeom>
          <a:solidFill>
            <a:srgbClr val="70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371600" cy="1371600"/>
          </a:xfrm>
          <a:prstGeom prst="ellipse">
            <a:avLst/>
          </a:prstGeom>
          <a:solidFill>
            <a:srgbClr val="B1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806440"/>
            <a:ext cx="1097280" cy="1097280"/>
          </a:xfrm>
          <a:prstGeom prst="ellipse">
            <a:avLst/>
          </a:prstGeom>
          <a:solidFill>
            <a:srgbClr val="9A5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1376C"/>
                </a:solidFill>
                <a:latin typeface="Aptos Display"/>
              </a:rPr>
              <a:t>11 • SELF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4FA"/>
                </a:solidFill>
                <a:latin typeface="Aptos Display"/>
              </a:rPr>
              <a:t>RATE YOURSELF.  HONESTLY.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166360" cy="77724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703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F4FA"/>
                </a:solidFill>
                <a:latin typeface="Aptos Display"/>
              </a:rPr>
              <a:t>Punctuality    1  2  3  4 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66360" cy="77724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B1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F4FA"/>
                </a:solidFill>
                <a:latin typeface="Aptos Display"/>
              </a:rPr>
              <a:t>Preparation    1  2  3  4 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16352"/>
            <a:ext cx="5166360" cy="77724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9A5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53512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F4FA"/>
                </a:solidFill>
                <a:latin typeface="Aptos Display"/>
              </a:rPr>
              <a:t>Time management    1  2  3  4 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816352"/>
            <a:ext cx="5166360" cy="77724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52B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953512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F4FA"/>
                </a:solidFill>
                <a:latin typeface="Aptos Display"/>
              </a:rPr>
              <a:t>Consistency    1  2  3  4 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895344"/>
            <a:ext cx="5166360" cy="77724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703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32504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F4FA"/>
                </a:solidFill>
                <a:latin typeface="Aptos Display"/>
              </a:rPr>
              <a:t>Communication    1  2  3  4 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895344"/>
            <a:ext cx="5166360" cy="77724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B1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032504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F4FA"/>
                </a:solidFill>
                <a:latin typeface="Aptos Display"/>
              </a:rPr>
              <a:t>Listening    1  2  3  4 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74336"/>
            <a:ext cx="5166360" cy="77724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9A5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11496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F4FA"/>
                </a:solidFill>
                <a:latin typeface="Aptos Display"/>
              </a:rPr>
              <a:t>Responsibility    1  2  3  4 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974336"/>
            <a:ext cx="5166360" cy="77724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52B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5111496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F4FA"/>
                </a:solidFill>
                <a:latin typeface="Aptos Display"/>
              </a:rPr>
              <a:t>Follow-through    1  2  3  4 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8BE53"/>
                </a:solidFill>
                <a:latin typeface="Aptos Display"/>
              </a:rPr>
              <a:t>NO ONE IS COLLECTING THIS.  THIS IS FOR YOU.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274320"/>
            <a:ext cx="1828800" cy="1828800"/>
          </a:xfrm>
          <a:prstGeom prst="ellipse">
            <a:avLst/>
          </a:prstGeom>
          <a:solidFill>
            <a:srgbClr val="70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371600" cy="1371600"/>
          </a:xfrm>
          <a:prstGeom prst="ellipse">
            <a:avLst/>
          </a:prstGeom>
          <a:solidFill>
            <a:srgbClr val="B1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806440"/>
            <a:ext cx="1097280" cy="1097280"/>
          </a:xfrm>
          <a:prstGeom prst="ellipse">
            <a:avLst/>
          </a:prstGeom>
          <a:solidFill>
            <a:srgbClr val="9A5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1376C"/>
                </a:solidFill>
                <a:latin typeface="Aptos Display"/>
              </a:rPr>
              <a:t>12 • GROUP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4FA"/>
                </a:solidFill>
                <a:latin typeface="Aptos Display"/>
              </a:rPr>
              <a:t>IF YOU COULD IMPROVE STAFF DISCIPLINE…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7F4FA"/>
                </a:solidFill>
                <a:latin typeface="Aptos Display"/>
              </a:rPr>
              <a:t>INTRODUCE ONLY 3 THINGS.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3337560" cy="192024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B1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7F4FA"/>
                </a:solidFill>
                <a:latin typeface="Aptos Display"/>
              </a:rPr>
              <a:t>1
______________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743200"/>
            <a:ext cx="3337560" cy="192024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703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88036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7F4FA"/>
                </a:solidFill>
                <a:latin typeface="Aptos Display"/>
              </a:rPr>
              <a:t>2
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743200"/>
            <a:ext cx="3337560" cy="192024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9A5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88036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7F4FA"/>
                </a:solidFill>
                <a:latin typeface="Aptos Display"/>
              </a:rPr>
              <a:t>3
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E8BE53"/>
                </a:solidFill>
                <a:latin typeface="Aptos Display"/>
              </a:rPr>
              <a:t>5 MINUTES → GROUPS → PRESENT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274320"/>
            <a:ext cx="1828800" cy="1828800"/>
          </a:xfrm>
          <a:prstGeom prst="ellipse">
            <a:avLst/>
          </a:prstGeom>
          <a:solidFill>
            <a:srgbClr val="70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371600" cy="1371600"/>
          </a:xfrm>
          <a:prstGeom prst="ellipse">
            <a:avLst/>
          </a:prstGeom>
          <a:solidFill>
            <a:srgbClr val="B1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806440"/>
            <a:ext cx="1097280" cy="1097280"/>
          </a:xfrm>
          <a:prstGeom prst="ellipse">
            <a:avLst/>
          </a:prstGeom>
          <a:solidFill>
            <a:srgbClr val="9A5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1376C"/>
                </a:solidFill>
                <a:latin typeface="Aptos Display"/>
              </a:rPr>
              <a:t>13 • HARD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4FA"/>
                </a:solidFill>
                <a:latin typeface="Aptos Display"/>
              </a:rPr>
              <a:t>DON’T ANSWER QUICKLY.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166360" cy="150876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B1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8006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4FA"/>
                </a:solidFill>
                <a:latin typeface="Aptos Display"/>
              </a:rPr>
              <a:t>Can we demand discipline we don’t model?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166360" cy="150876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703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8006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4FA"/>
                </a:solidFill>
                <a:latin typeface="Aptos Display"/>
              </a:rPr>
              <a:t>What habit might learners be silently learning from us?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57600"/>
            <a:ext cx="5166360" cy="150876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9A5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794760"/>
            <a:ext cx="48006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4FA"/>
                </a:solidFill>
                <a:latin typeface="Aptos Display"/>
              </a:rPr>
              <a:t>Do our words consistently match our actions?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657600"/>
            <a:ext cx="5166360" cy="150876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52B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794760"/>
            <a:ext cx="48006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4FA"/>
                </a:solidFill>
                <a:latin typeface="Aptos Display"/>
              </a:rPr>
              <a:t>When we make mistakes, do we model accountability or excuses?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274320"/>
            <a:ext cx="1828800" cy="1828800"/>
          </a:xfrm>
          <a:prstGeom prst="ellipse">
            <a:avLst/>
          </a:prstGeom>
          <a:solidFill>
            <a:srgbClr val="70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371600" cy="1371600"/>
          </a:xfrm>
          <a:prstGeom prst="ellipse">
            <a:avLst/>
          </a:prstGeom>
          <a:solidFill>
            <a:srgbClr val="B1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806440"/>
            <a:ext cx="1097280" cy="1097280"/>
          </a:xfrm>
          <a:prstGeom prst="ellipse">
            <a:avLst/>
          </a:prstGeom>
          <a:solidFill>
            <a:srgbClr val="9A5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1376C"/>
                </a:solidFill>
                <a:latin typeface="Aptos Display"/>
              </a:rPr>
              <a:t>14 •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4FA"/>
                </a:solidFill>
                <a:latin typeface="Aptos Display"/>
              </a:rPr>
              <a:t>START.  STOP.  CONTINUE.  IMPROVE.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2514600" cy="182880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52B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4FA"/>
                </a:solidFill>
                <a:latin typeface="Aptos Display"/>
              </a:rPr>
              <a:t>START
____________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286000"/>
            <a:ext cx="2514600" cy="182880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B1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42316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4FA"/>
                </a:solidFill>
                <a:latin typeface="Aptos Display"/>
              </a:rPr>
              <a:t>STOP
____________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86000"/>
            <a:ext cx="2514600" cy="182880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703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4FA"/>
                </a:solidFill>
                <a:latin typeface="Aptos Display"/>
              </a:rPr>
              <a:t>CONTINUE
____________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2286000"/>
            <a:ext cx="2514600" cy="1828800"/>
          </a:xfrm>
          <a:prstGeom prst="roundRect">
            <a:avLst/>
          </a:prstGeom>
          <a:solidFill>
            <a:srgbClr val="1C1426"/>
          </a:solidFill>
          <a:ln w="19050">
            <a:solidFill>
              <a:srgbClr val="9A5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242316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4FA"/>
                </a:solidFill>
                <a:latin typeface="Aptos Display"/>
              </a:rPr>
              <a:t>IMPROVE
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7F4FA"/>
                </a:solidFill>
                <a:latin typeface="Aptos Display"/>
              </a:rPr>
              <a:t>MAKE IT MEASURABLE.  MAKE IT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274320"/>
            <a:ext cx="1828800" cy="1828800"/>
          </a:xfrm>
          <a:prstGeom prst="ellipse">
            <a:avLst/>
          </a:prstGeom>
          <a:solidFill>
            <a:srgbClr val="70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371600" cy="1371600"/>
          </a:xfrm>
          <a:prstGeom prst="ellipse">
            <a:avLst/>
          </a:prstGeom>
          <a:solidFill>
            <a:srgbClr val="B1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806440"/>
            <a:ext cx="1097280" cy="1097280"/>
          </a:xfrm>
          <a:prstGeom prst="ellipse">
            <a:avLst/>
          </a:prstGeom>
          <a:solidFill>
            <a:srgbClr val="9A5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1376C"/>
                </a:solidFill>
                <a:latin typeface="Aptos Display"/>
              </a:rPr>
              <a:t>THE FINAL MIRROR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7F4FA"/>
                </a:solidFill>
                <a:latin typeface="Aptos Display"/>
              </a:rPr>
              <a:t>IF EVERY LEARNER
BECAME EXACTLY LIKE
THE TEACHER THEY SEE…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BE53"/>
                </a:solidFill>
                <a:latin typeface="Aptos Display"/>
              </a:rPr>
              <a:t>WHAT KIND OF SCHOOL
WOULD WE HAVE?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2356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9AFC3"/>
                </a:solidFill>
                <a:latin typeface="Aptos Display"/>
              </a:rPr>
              <a:t>A DISCIPLINED EDUCATOR DOESN’T JUST TEACH DISCIPLINE.
THEY BECOME AN EXAMPLE OF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